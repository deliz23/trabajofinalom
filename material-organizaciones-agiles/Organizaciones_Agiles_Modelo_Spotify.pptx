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MÉTODOS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Organizaciones Ágiles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Problemas Complejos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Spotify aplicado a un caso real: la Plataforma Híbrida de Gestión de Laboratorios de Computación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Organización y Métodos  ·  Julio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complejo al diseño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60" y="2252716"/>
            <a:ext cx="487192" cy="487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Fundamentos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complejos, VUCA y el marco Cynefin: por qué la jerarquía tradicional no basta.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1671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900" y="2252716"/>
            <a:ext cx="487192" cy="487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Modelo Spotify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Squads, Tribes, Chapters y Guilds: cómo equilibrar autonomía con alineación.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1671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540" y="225271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Caso aplicado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Híbrida de Gestión de Laboratorios: el modelo puesto en práctica.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52560" y="187452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592" y="21671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180" y="2252716"/>
            <a:ext cx="487192" cy="487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Discusión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81160" y="34747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Lecciones, conclusiones y preguntas para trabajar en clase.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organizarse frente a la complejidad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VUCA, el marco Cynefin y los límites de la jerarquía tradicional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y Métodos, revisitada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décadas, Organización y Métodos (O&amp;M) diseñó estructuras a partir de organigramas jerárquicos y manuales de procedimiento estáticos: una separación clara entre quien planifica y quien ejecuta.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enfoque funciona cuando el problema es estable y repetitivo. Pero muchos proyectos actuales —como una plataforma tecnológica— enfrentan requisitos que emergen sobre la marcha y múltiples interesados con intereses distintos.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6916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20116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5490" y="209489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guía esta sesión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1228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estructura organizacional diseñamos cuando el problema es complejo, cambiante y multidisciplinario — y no simplemente “complicado”?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entorno VUCA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proyectos tecnológicos actuales se desenvuelven en un entorno VUCA: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37744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763" y="254020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Volatilidad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es rápido y difícil de anticipar.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521208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403" y="2540203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Incertidumbre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6616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información para predecir resultados.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1792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400" dirty="0"/>
          </a:p>
        </p:txBody>
      </p:sp>
      <p:sp>
        <p:nvSpPr>
          <p:cNvPr id="19" name="Shape 15"/>
          <p:cNvSpPr/>
          <p:nvPr/>
        </p:nvSpPr>
        <p:spPr>
          <a:xfrm>
            <a:off x="804672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043" y="2540203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0080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variables interconectadas.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052560" y="22402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24" name="Text 19"/>
          <p:cNvSpPr/>
          <p:nvPr/>
        </p:nvSpPr>
        <p:spPr>
          <a:xfrm>
            <a:off x="9235440" y="23774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400" dirty="0"/>
          </a:p>
        </p:txBody>
      </p:sp>
      <p:sp>
        <p:nvSpPr>
          <p:cNvPr id="25" name="Shape 20"/>
          <p:cNvSpPr/>
          <p:nvPr/>
        </p:nvSpPr>
        <p:spPr>
          <a:xfrm>
            <a:off x="1088136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2683" y="2540203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3474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Ambigüedad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3544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causa-efecto no son claras.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marco Cynefin: cuatro tipos de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88" y="1958188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(claro)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194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Causa-efecto evidente. Se resuelve con procedimientos y buenas prácticas.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1732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check-in de un equipo en inventario.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327648" y="18928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28" y="195818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95160" y="2194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experticia, pero es analizable de antemano.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99516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configurar un clúster de Kubernetes.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395020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4015588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86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42519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causa-efecto solo se entiende en retrospectiva. Requiere probar–sentir–responder.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417320" y="5029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diseñar un catálogo de imágenes para públicos distintos.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26480" y="37490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4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327648" y="3950208"/>
            <a:ext cx="502920" cy="502920"/>
          </a:xfrm>
          <a:prstGeom prst="ellipse">
            <a:avLst/>
          </a:prstGeom>
          <a:solidFill>
            <a:srgbClr val="8A332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28" y="4015588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886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Caótico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95160" y="42519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relación causa-efecto discernible; se debe actuar primero para estabilizar.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995160" y="5029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caída total del laboratorio en plena evaluación.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problemas complejos no se resuelven planificando 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problemas complejos no se resuelven con más planificación anticipada, sino con estructuras que permiten experimentar rápido, aprender del error y ajustar el rumbo con frecuencia.”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132" y="3711092"/>
            <a:ext cx="304495" cy="304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611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jerarquía clásica es eficiente para lo simple y lo complicado: procedimientos claros, aprobación en cascada.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" y="4579772"/>
            <a:ext cx="304495" cy="304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480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lo complejo se vuelve lenta y frágil: cada cambio de requisito atraviesa varios niveles de aprobación.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" y="5448452"/>
            <a:ext cx="304495" cy="3044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53492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queda fragmentado entre silos que no se comunican con fluidez entre sí.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jerárquica vs. organización ágil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jerárquica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9659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ágil (squads)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suben y bajan por niveles de aprobación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rígida por departamento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extensa antes de ejecutar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3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 lentos y costosos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autónomos deciden de punta a punta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por misión de producto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1148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cortos de prueba, observación y ajuste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48920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rumbo en días, no en meses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equilibrio entre autonomía y alineación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del diseño organizacional ágil: equipos con libertad para decidir cómo resolver un problema, sin perder el rumbo estratégico común.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74520" y="3931920"/>
            <a:ext cx="6858000" cy="0"/>
          </a:xfrm>
          <a:prstGeom prst="line">
            <a:avLst/>
          </a:prstGeom>
          <a:noFill/>
          <a:ln w="15875">
            <a:solidFill>
              <a:srgbClr val="9AA7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2148840"/>
            <a:ext cx="0" cy="3566160"/>
          </a:xfrm>
          <a:prstGeom prst="line">
            <a:avLst/>
          </a:prstGeom>
          <a:noFill/>
          <a:ln w="15875">
            <a:solidFill>
              <a:srgbClr val="9AA7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5788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72100" y="2148840"/>
            <a:ext cx="3383280" cy="1737360"/>
          </a:xfrm>
          <a:prstGeom prst="rect">
            <a:avLst/>
          </a:prstGeom>
          <a:solidFill>
            <a:srgbClr val="1C7293">
              <a:alpha val="1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926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+ Autonomía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09260" y="271576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con misión clara y libertad de ejecución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2148840"/>
            <a:ext cx="3383280" cy="1737360"/>
          </a:xfrm>
          <a:prstGeom prst="rect">
            <a:avLst/>
          </a:prstGeom>
          <a:solidFill>
            <a:srgbClr val="8A3324">
              <a:alpha val="12000"/>
            </a:srgbClr>
          </a:solidFill>
          <a:ln w="9525">
            <a:solidFill>
              <a:srgbClr val="8A33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Autonomía sin alineación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271576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Caos: duplicación, direcciones contradictorias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72100" y="3985412"/>
            <a:ext cx="3383280" cy="1737360"/>
          </a:xfrm>
          <a:prstGeom prst="rect">
            <a:avLst/>
          </a:prstGeom>
          <a:solidFill>
            <a:srgbClr val="065A82">
              <a:alpha val="12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9260" y="40768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sin autonomía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09260" y="45523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lenta, no se adapta a la complejidad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985412"/>
            <a:ext cx="3383280" cy="1737360"/>
          </a:xfrm>
          <a:prstGeom prst="rect">
            <a:avLst/>
          </a:prstGeom>
          <a:solidFill>
            <a:srgbClr val="5B6B7C">
              <a:alpha val="12000"/>
            </a:srgbClr>
          </a:solidFill>
          <a:ln w="9525">
            <a:solidFill>
              <a:srgbClr val="5B6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0768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alineación ni autonomía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11680" y="45523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Desorganización total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Fundamentos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Spotify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Squads, Tribes, Chapters y Guilds: la anatomía de una organización ágil escalada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y filosofía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577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Spotify es un patrón de diseño organizacional popularizado por la empresa Spotify (que aclara que evolucionó y nunca fue un modelo “cerrado”) para escalar equipos ágiles manteniendo autonomía y alineación a la vez.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organiza en cuatro unidades complementarias, dos “verticales” (Squad, Tribe) y dos “horizontales” (Chapter, Guild), que forman una matriz de trabajo.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38378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878" y="210677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89720" y="17373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1008126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58" y="21067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897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92240" y="3794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383780" y="40690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878" y="41641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5029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189720" y="379476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4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81260" y="406908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358" y="4164178"/>
            <a:ext cx="541325" cy="5413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5029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“Una mini-startup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 la organización”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básica: equipo pequeño, multidisciplinario (5–9 personas) y autónomo, con todas las competencias para diseñar, construir y entregar una parte del producto de principio a fin.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de producto clara y acotada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dependencia de otros equipos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su propia forma de trabajo (Scrum, Kanban, híbrido)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familia de squads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una misma visión”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varios squads que trabajan en un área de producto relacionada. Coordina la visión general y evita que los squads dupliquen esfuerzos o pierdan coherencia entre sí.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 prioridades entre squads relacionados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dependencias técnicas compartidas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líder de tribu que facilita, no ordena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 misma disciplina,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repartida en varios squads”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transversal de personas que comparten una misma disciplina o especialidad, aunque trabajen en squads distintos. Garantiza estándares técnicos comunes y mentoría.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 calidad técnica entre squads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profesional y mentoría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decide el día a día del squad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8A5A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142439"/>
            <a:ext cx="744322" cy="7443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1005840" cy="10058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2677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“Comunidad de interés,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abierta a todos”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informal y voluntaria que cruza toda la organización, abierta a cualquier interesado en un tema, sin importar su squad, tribe o chapter.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329366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2004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conocimiento de forma orgánica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3979469"/>
            <a:ext cx="270662" cy="270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38862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voluntaria, sin jerarquía formal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4617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989" y="4665269"/>
            <a:ext cx="270662" cy="2706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45720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guild de seguridad, guild de accesibilidad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matriz: vertical por Squad, horizontal por Chapter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pertenece “verticalmente” a un squad (entrega valor día a día) y “horizontalmente” a un chapter (mantiene su desarrollo técnico).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7744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23960" y="2286000"/>
            <a:ext cx="203911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823960" y="228600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92040"/>
            <a:ext cx="1691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288036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828" y="3127248"/>
            <a:ext cx="402336" cy="40233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26280" y="288036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68" y="3127248"/>
            <a:ext cx="402336" cy="40233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75120" y="288036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3127248"/>
            <a:ext cx="402336" cy="40233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823960" y="288036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48" y="3127248"/>
            <a:ext cx="402336" cy="40233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377440" y="388620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828" y="4133088"/>
            <a:ext cx="402336" cy="40233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526280" y="388620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668" y="4133088"/>
            <a:ext cx="402336" cy="40233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75120" y="388620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508" y="4133088"/>
            <a:ext cx="402336" cy="402336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823960" y="388620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2348" y="4133088"/>
            <a:ext cx="402336" cy="402336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2377440" y="489204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5828" y="5138928"/>
            <a:ext cx="402336" cy="402336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4526280" y="489204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668" y="5138928"/>
            <a:ext cx="402336" cy="402336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675120" y="4892040"/>
            <a:ext cx="2039112" cy="896112"/>
          </a:xfrm>
          <a:prstGeom prst="rect">
            <a:avLst/>
          </a:prstGeom>
          <a:solidFill>
            <a:srgbClr val="F4F8FA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3508" y="5138928"/>
            <a:ext cx="402336" cy="402336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8823960" y="4892040"/>
            <a:ext cx="2039112" cy="896112"/>
          </a:xfrm>
          <a:prstGeom prst="rect">
            <a:avLst/>
          </a:prstGeom>
          <a:solidFill>
            <a:srgbClr val="EAF1F1"/>
          </a:solidFill>
          <a:ln w="9525">
            <a:solidFill>
              <a:srgbClr val="D7E1E8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2348" y="5138928"/>
            <a:ext cx="402336" cy="40233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44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SPOTIFY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riesgos del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6F0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BF0E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77060"/>
            <a:ext cx="372161" cy="3721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60" y="20770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029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23760" y="2029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si se aplica sin cuidado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6868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Ciclos de decisión más cortos: probar, observar, ajustar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3703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 sin perder identidad de producto (tribes por área)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46634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Conocimiento técnico estandarizado vía chapters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2940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Squads sin chapter fuerte pierden estándares comunes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29400" y="37033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Exceso de autonomía sin alineación genera duplicación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29400" y="46634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Requiere líderes de squad/tribe con habilidades de facilitación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Modelo Spotify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63" y="2102663"/>
            <a:ext cx="778154" cy="77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aplicado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Híbrida de Gestión de Laboratorios de Computación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laboratorios de cómputo fragmentados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3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perdido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y configuraciones manuales repetidas.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Entornos inconsistentes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2044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 en mi máquina”: falta de estandarización.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21406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auditable del software utilizado.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750" y="214061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Difícil de replicar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897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no puede llevar el entorno a su PC.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434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dolor lo comparten laboratorios universitarios y empresas de software: gestión fragmentada de recursos físicos y digitales.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híbrida (local + nube) que estandarice, automatice y trace los entornos de los laboratorios de computación.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7" y="291190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imágenes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 con procesos automatizados vía Harbor.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47" y="291190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hardware y usuarios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físicos, proyectos/cursos y permisos centralizados.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87" y="291190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completa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auditable de todo el software utilizado.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6060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2834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427" y="2911907"/>
            <a:ext cx="439826" cy="439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657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versiones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35440" y="41605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Académica y Empresarial, con estándares superiores.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un problema complejo (y no solo complicado)?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84251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única arquitectura “correcta” de antemano: aula universitaria y empresa tienen necesidades distintas (presupuesto y rotación vs. seguridad y SLAs).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775204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700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interesados con intereses distintos: estudiantes, docentes, administradores de TI y empresas.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707892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60273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base (contenedores, Kubernetes, identidad, seguridad) evoluciona constantemente.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640580"/>
            <a:ext cx="338328" cy="338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53542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reales solo se conocen con el uso: se necesita pilotar, observar y adaptar el diseño.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55955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55955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Cynefin: el proyecto se ubica en el dominio COMPLEJO → requiere fases piloto, experimentación y ajuste, no un plan cerrado desde el inicio.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Tribe “Platform Lab”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organiza a estudiantes y docentes bajo un único Tribe que evoluciona en dos fases secuenciales.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2286000"/>
            <a:ext cx="3200400" cy="1051560"/>
          </a:xfrm>
          <a:prstGeom prst="roundRect">
            <a:avLst>
              <a:gd name="adj" fmla="val 43478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245059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60" y="2543312"/>
            <a:ext cx="527792" cy="527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22860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Tribe: Platform Lab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0" y="3337560"/>
            <a:ext cx="-1463040" cy="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3337560"/>
            <a:ext cx="1463040" cy="731520"/>
          </a:xfrm>
          <a:prstGeom prst="line">
            <a:avLst/>
          </a:prstGeom>
          <a:noFill/>
          <a:ln w="19050">
            <a:solidFill>
              <a:srgbClr val="9AA7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1005840" y="4023360"/>
            <a:ext cx="44805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Proyecto Universitario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4617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squads, formación de estudiantes bajo mentoría docente.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7512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4023360"/>
            <a:ext cx="44805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023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Proyecto Empresa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4617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a 5 squads con estándares profesionales.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— Fase 1: Proyecto Universitario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66" y="198918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Core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85292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6" y="2921874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15768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Image &amp; Container Management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78561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3854562"/>
            <a:ext cx="392460" cy="392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48456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Hardware &amp; Lab Operations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718304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6" y="4787250"/>
            <a:ext cx="392460" cy="392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581144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Frontend &amp; User Experience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— Fase 2: Proyecto Empresa (evolución)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66" y="198918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Core Enterprise Platform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85292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6" y="2921874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15768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Advanced Image &amp; Security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78561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3854562"/>
            <a:ext cx="392460" cy="392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48456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Hardware Fleet &amp; Hybrid Operations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58114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1F1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7183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6" y="4787250"/>
            <a:ext cx="392460" cy="392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581144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Enterprise Experience &amp; Analytics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51383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8FA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565099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66" y="5719938"/>
            <a:ext cx="392460" cy="392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513832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Integration &amp; Ecosystem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Chapters liderados por docentes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Chapter agrupa a los estudiantes por especialidad técnica, de forma transversal a los squads, y está liderado por un profesor con mínimo 5 años de experiencia en la industria.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9297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Backend &amp; Arquitectura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38" y="29297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DevOps &amp; Platform Engineering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5518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78" y="292973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Security &amp; Compliance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052560" y="25146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21295C"/>
          </a:solidFill>
          <a:ln/>
        </p:spPr>
      </p:sp>
      <p:sp>
        <p:nvSpPr>
          <p:cNvPr id="18" name="Shape 13"/>
          <p:cNvSpPr/>
          <p:nvPr/>
        </p:nvSpPr>
        <p:spPr>
          <a:xfrm>
            <a:off x="998982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918" y="2929738"/>
            <a:ext cx="541325" cy="5413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9720" y="37490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Frontend &amp; UX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EAF1F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531723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5230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docente aporta mentoría real y estándares profesionales dentro de cada disciplina.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dilema: ¿dónde va “Organización y Procesos”?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BEAE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8A33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¿Un squad dedicado solo a procesos?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descartó: generaría un silo desconectado de la ejecución técnica y sería costoso en recursos.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adoptada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de “Organización y Procesos”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Liderado por un docente con experiencia en Gestión de Proyectos o ITIL.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 en cada squad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miembro de cada squad, dedicado parcialmente a documentar los procesos de su propia área.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388620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(cada squad es dueño de sus procesos) + Alineación (RACI y estándares comunes vía Chapter) — sin crear burocracia separada.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Cadencia ágil y artefactos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Dedicación semanal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h/estudiante (Fase 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h/estudiante (Fase 2)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090" y="22320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Ritmo de coordinación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6616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reuniones de squad/semana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revisión con el Chapter/semana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730" y="22320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MoSCoW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priorizadas: Organización, Usuarios, Imágenes, Hardware, Frontend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370" y="22320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35440" y="35204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→ Universitario → Empresa → Piloto → Mejora continua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Caso aplicado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para el diseño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debe reflejar el tipo de problema: lo simple/complicado admite jerarquía; lo complejo requiere squads autónomos que aprendan iterando.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8346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 organizacional no significa “sin estructura”: los Chapters y la matriz RACI muestran una estructura distinta, orientada a autonomía con alineación.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dilemas organizacionales rara vez se resuelven creando más unidades separadas: a menudo la respuesta es un rol transversal + responsabilidad distribuida.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diseño (Tribe → Squads → Chapters) puede evolucionar de contexto académico a empresarial ajustando el número y enfoque de squads.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 Plataforma Híbrida de Gestión de Laboratorios muestra que O&amp;M, aplicada a problemas complejos, no consiste en imponer un procedimiento fijo, sino en diseñar una estructura —el Modelo Spotify, en este ejemplo— que permita a equipos autónomos aprender, adaptarse y coordinarse con el resto de la organización.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pedagógico del caso está en observar cómo una decisión organizacional concreta —dónde ubicar el Chapter de Organización y Procesos— se deriva directamente de los principios de autonomía, alineación y del dominio “complejo” de Cynefin.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8046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TRABAJAR EN CLASE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discusión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86" y="3113166"/>
            <a:ext cx="284196" cy="2841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99008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otros procesos del laboratorio son “complicados” (procedimiento claro) frente a los “complejos” (requieren experimentación)?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867912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86" y="3917838"/>
            <a:ext cx="284196" cy="2841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94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proyecto creciera a 10 squads, ¿en qué punto convendría dividir el Tribe “Platform Lab” en dos tribes independientes?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4672584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86" y="4722510"/>
            <a:ext cx="284196" cy="2841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599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aparecen si el Process Owner de cada squad no tiene tiempo protegido para documentar procesos?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2960" y="5477256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86" y="5527182"/>
            <a:ext cx="284196" cy="2841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40410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mediría, con indicadores concretos, si el modelo logra el equilibrio entre autonomía y alineación?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Ágiles para Problemas Complejos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Organizaciones Ágiles para Problemas Complejos</dc:title>
  <dc:subject>PptxGenJS Presentation</dc:subject>
  <dc:creator>Organización y Métodos</dc:creator>
  <cp:lastModifiedBy>Organización y Métodos</cp:lastModifiedBy>
  <cp:revision>1</cp:revision>
  <dcterms:created xsi:type="dcterms:W3CDTF">2026-07-09T14:26:58Z</dcterms:created>
  <dcterms:modified xsi:type="dcterms:W3CDTF">2026-07-09T14:26:58Z</dcterms:modified>
</cp:coreProperties>
</file>